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D859F-3257-B5AB-4458-39D1AF69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6F6EBA-6420-418A-8625-95391DEB6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0C4E1-6D9E-3B6E-77F9-3BADD0F69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3B7F0B-BA2D-6F38-1715-9581B2AF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5F3BEF-10BA-FB7C-E5F3-CA6F2B2E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71781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D9BB69-6EAD-2B10-7E79-DC7983504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91753A-4385-0ED4-BFE4-4C6A9A1A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9433C9-76BB-8A17-1B3F-BC5E5AE1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D5229D-2562-3538-8D3B-362413C6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0D9A00-2D6D-FA71-0E6A-81BF3D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3240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0E82F-56E8-2FBB-9DDD-0A77FB4D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31D2B1-A8E0-F13A-6800-0F3D9CD91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4BE1F9-2462-3678-04F6-E9B70A55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3D5A82-EC35-68E2-2498-4B030F12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5637C-6426-FBCD-B6D0-0A57D765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9805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7C4E2-0C35-C468-4E27-4FED711C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1ADFA-8FB6-707D-B777-D0AA42CA0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2212F7-230C-67A2-2929-5591E5D90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B80B15-DD2D-8F64-9BFA-2159A693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6D7F83-813D-F4CB-D68C-22984252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8F78E9-37BD-9B92-7D96-1C5C7C5E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2333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0E8F5-DB2F-69E2-1614-CF1FD37F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DE52B7-DF53-4C25-C051-F638C5B29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18CB00-1C43-6517-43BF-3D7599CF0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F905107-8AA4-EAF9-3439-4D1F5D5EB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1DCC02-35BC-2312-39EB-168D23A1F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865563-423E-6A0E-7352-E53543E4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0F852A-0608-5E27-6153-2473EF51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E0538B8-2ED2-1A26-8376-A7D767C2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9508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03163-DDE0-DC81-EC65-E616E3B3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B6BD0E-ED42-C420-66AC-ADD5294F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95AE8B-AFD7-32D8-BF2E-EE43E3F2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70D081-E475-43B0-6F77-209CEFBF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5635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90B437-27B5-0238-0CC0-A70EF14D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8D53A34-A94C-1AED-BD9C-02A515F23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8430C0-F4DA-7D70-C94C-CDF47D56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14420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F59D8-E005-2E78-F546-FB0AED4C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85C983-D0B4-B597-B06A-6699FF159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526223-73AF-9384-4272-D7FEE976B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22ECFB-680E-1577-F458-08F801D7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4B9458-37E5-571C-C335-9EC83F74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B8C096-CA8B-196C-F8E7-6CE2267E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652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04EE6-BC60-522F-EA48-FC0A2BC1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5ABADA-854D-ADA2-0B1E-44486864A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75CB8F-BE0B-06EB-6179-D6601B17D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9FD975-4540-9189-2D08-2AA66E94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0763BA-2642-7CB6-CE94-845DAB6C4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328513-CAB0-C38E-EB5E-1EECEE7C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9378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2756E-D9B3-AA99-6AF9-76C40B2C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B05C76-A99B-641E-A45A-F807B52A3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68646E-FB95-B347-604C-EB767F53D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088BF4-0872-315D-E1CD-3CF6A426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8E596A-171F-E3FF-B8A4-5999718E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8235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3DC18D7-6DB0-7121-93F1-236DC3BBB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2D2F03-2A99-2BEB-8A67-A8A0E3FE6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869520-22BC-0643-CF35-702EED2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B04CE2-19A7-1C14-5D8D-06395BA51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55F514-7E14-4B45-095F-57241223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2577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E150B-A9E6-7591-A5D0-ED0BF304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183208-5F1C-0C7B-4C2A-8FEC4469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9FAD8B-885F-7A09-D64F-849A7830D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B2844-106F-4FBA-9CC5-6EE767185107}" type="datetimeFigureOut">
              <a:rPr lang="ru-KZ" smtClean="0"/>
              <a:t>21.09.2026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CBFBA2-04C4-6A7C-227B-17B5D9149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F4F2D0-2B52-3D14-46CA-816C4C3FF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F707C-A9FD-48D0-BE66-952CE4BCE64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8486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81B82-E8FB-F857-BB40-DC4C33D6C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Laboratory work 1</a:t>
            </a:r>
            <a:endParaRPr lang="ru-KZ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09EA25-48DC-CBB9-4564-2D19E6C37E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Yusup </a:t>
            </a:r>
            <a:r>
              <a:rPr lang="en-US" dirty="0" err="1"/>
              <a:t>Abylaikhan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7055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4279A-8BC4-F1AB-3D38-C3036BFB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KZ" dirty="0"/>
              <a:t>1. </a:t>
            </a:r>
            <a:r>
              <a:rPr lang="ru-KZ" dirty="0" err="1"/>
              <a:t>Entities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0D9F6A-2A48-D6A5-1A7F-0A51FBEF4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ru-KZ" dirty="0"/>
              <a:t>AIRPORT, AIRLINE, FLIGHT, PASSENGER, BOOKING, BOOKING_HISTORY, BOARDING_PASS, BAGGAGE, BAGGAGE_CHECK, SECURITY_CHECK.</a:t>
            </a:r>
          </a:p>
        </p:txBody>
      </p:sp>
    </p:spTree>
    <p:extLst>
      <p:ext uri="{BB962C8B-B14F-4D97-AF65-F5344CB8AC3E}">
        <p14:creationId xmlns:p14="http://schemas.microsoft.com/office/powerpoint/2010/main" val="1762956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76A7E-2F07-4F24-0F49-34E7B5FA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KZ" dirty="0"/>
              <a:t>2. </a:t>
            </a:r>
            <a:r>
              <a:rPr lang="ru-KZ" dirty="0" err="1"/>
              <a:t>Attributes</a:t>
            </a:r>
            <a:endParaRPr lang="ru-KZ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778589D1-6A71-276D-65C5-8604BC5DE4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081077"/>
              </p:ext>
            </p:extLst>
          </p:nvPr>
        </p:nvGraphicFramePr>
        <p:xfrm>
          <a:off x="838201" y="1690688"/>
          <a:ext cx="5017851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2617">
                  <a:extLst>
                    <a:ext uri="{9D8B030D-6E8A-4147-A177-3AD203B41FA5}">
                      <a16:colId xmlns:a16="http://schemas.microsoft.com/office/drawing/2014/main" val="4145801895"/>
                    </a:ext>
                  </a:extLst>
                </a:gridCol>
                <a:gridCol w="1672617">
                  <a:extLst>
                    <a:ext uri="{9D8B030D-6E8A-4147-A177-3AD203B41FA5}">
                      <a16:colId xmlns:a16="http://schemas.microsoft.com/office/drawing/2014/main" val="3554222744"/>
                    </a:ext>
                  </a:extLst>
                </a:gridCol>
                <a:gridCol w="1672617">
                  <a:extLst>
                    <a:ext uri="{9D8B030D-6E8A-4147-A177-3AD203B41FA5}">
                      <a16:colId xmlns:a16="http://schemas.microsoft.com/office/drawing/2014/main" val="2556217559"/>
                    </a:ext>
                  </a:extLst>
                </a:gridCol>
              </a:tblGrid>
              <a:tr h="13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 err="1"/>
                        <a:t>Attribute</a:t>
                      </a:r>
                      <a:endParaRPr lang="ru-K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04432"/>
                  </a:ext>
                </a:extLst>
              </a:tr>
              <a:tr h="13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airport_id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804281"/>
                  </a:ext>
                </a:extLst>
              </a:tr>
              <a:tr h="13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airport_name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350645"/>
                  </a:ext>
                </a:extLst>
              </a:tr>
              <a:tr h="13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269641"/>
                  </a:ext>
                </a:extLst>
              </a:tr>
              <a:tr h="13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787032"/>
                  </a:ext>
                </a:extLst>
              </a:tr>
              <a:tr h="136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2129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EF29EA7-A327-B53C-C8B4-6A0B07C010F9}"/>
              </a:ext>
            </a:extLst>
          </p:cNvPr>
          <p:cNvSpPr txBox="1"/>
          <p:nvPr/>
        </p:nvSpPr>
        <p:spPr>
          <a:xfrm>
            <a:off x="838200" y="1321356"/>
            <a:ext cx="106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AIRPORT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1662EF-0645-2C8B-238D-003951D5C609}"/>
              </a:ext>
            </a:extLst>
          </p:cNvPr>
          <p:cNvSpPr txBox="1"/>
          <p:nvPr/>
        </p:nvSpPr>
        <p:spPr>
          <a:xfrm>
            <a:off x="6096000" y="132135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AIRLINE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87154414-1D0B-55C5-83BA-33FDEB193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306893"/>
              </p:ext>
            </p:extLst>
          </p:nvPr>
        </p:nvGraphicFramePr>
        <p:xfrm>
          <a:off x="6096000" y="1690688"/>
          <a:ext cx="5625831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5277">
                  <a:extLst>
                    <a:ext uri="{9D8B030D-6E8A-4147-A177-3AD203B41FA5}">
                      <a16:colId xmlns:a16="http://schemas.microsoft.com/office/drawing/2014/main" val="2877975289"/>
                    </a:ext>
                  </a:extLst>
                </a:gridCol>
                <a:gridCol w="1875277">
                  <a:extLst>
                    <a:ext uri="{9D8B030D-6E8A-4147-A177-3AD203B41FA5}">
                      <a16:colId xmlns:a16="http://schemas.microsoft.com/office/drawing/2014/main" val="1559135420"/>
                    </a:ext>
                  </a:extLst>
                </a:gridCol>
                <a:gridCol w="1875277">
                  <a:extLst>
                    <a:ext uri="{9D8B030D-6E8A-4147-A177-3AD203B41FA5}">
                      <a16:colId xmlns:a16="http://schemas.microsoft.com/office/drawing/2014/main" val="474203610"/>
                    </a:ext>
                  </a:extLst>
                </a:gridCol>
              </a:tblGrid>
              <a:tr h="28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610895"/>
                  </a:ext>
                </a:extLst>
              </a:tr>
              <a:tr h="28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airline_id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374571"/>
                  </a:ext>
                </a:extLst>
              </a:tr>
              <a:tr h="28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airline_code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CHAR(3)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UNIQUE,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376239"/>
                  </a:ext>
                </a:extLst>
              </a:tr>
              <a:tr h="28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05941"/>
                  </a:ext>
                </a:extLst>
              </a:tr>
              <a:tr h="28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80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09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D6960F5-538B-2F0F-5D89-ACE16CEF2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965837"/>
              </p:ext>
            </p:extLst>
          </p:nvPr>
        </p:nvGraphicFramePr>
        <p:xfrm>
          <a:off x="838200" y="734457"/>
          <a:ext cx="10008078" cy="43513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6026">
                  <a:extLst>
                    <a:ext uri="{9D8B030D-6E8A-4147-A177-3AD203B41FA5}">
                      <a16:colId xmlns:a16="http://schemas.microsoft.com/office/drawing/2014/main" val="350104057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3640574753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3857672521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Attribute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Type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Constraint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706072306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flight_id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INT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PK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153363915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 dirty="0" err="1"/>
                        <a:t>airline_id</a:t>
                      </a:r>
                      <a:endParaRPr lang="ru-KZ" sz="1700" dirty="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INT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FK → AIRLINE, NOT NULL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477917977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departure_airport_id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INT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FK → AIRPORT, NOT NULL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87781016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arrival_airport_id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INT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FK → AIRPORT, NOT NULL, CHECK ≠ departure_airport_id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48557707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departing_gate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VARCHAR(10)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 dirty="0"/>
                        <a:t>NULL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842311654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arriving_gate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VARCHAR(10)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NULL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986760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scheduled_departure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TIMESTAMP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NOT NULL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993500231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scheduled_arrival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TIMESTAMP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NOT NULL, CHECK &gt; scheduled_departure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18416146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actual_departure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TIMESTAMP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NULL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890163866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actual_arrival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/>
                        <a:t>TIMESTAMP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700" dirty="0"/>
                        <a:t>NULL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9386989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2773120-BA0D-9532-E0DE-F9C14D07407E}"/>
              </a:ext>
            </a:extLst>
          </p:cNvPr>
          <p:cNvSpPr txBox="1"/>
          <p:nvPr/>
        </p:nvSpPr>
        <p:spPr>
          <a:xfrm>
            <a:off x="838200" y="36512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FLIGHT</a:t>
            </a:r>
          </a:p>
        </p:txBody>
      </p:sp>
    </p:spTree>
    <p:extLst>
      <p:ext uri="{BB962C8B-B14F-4D97-AF65-F5344CB8AC3E}">
        <p14:creationId xmlns:p14="http://schemas.microsoft.com/office/powerpoint/2010/main" val="3835278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21F8334-8A28-7E82-B585-88899E17D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276610"/>
              </p:ext>
            </p:extLst>
          </p:nvPr>
        </p:nvGraphicFramePr>
        <p:xfrm>
          <a:off x="826851" y="758438"/>
          <a:ext cx="649969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6564">
                  <a:extLst>
                    <a:ext uri="{9D8B030D-6E8A-4147-A177-3AD203B41FA5}">
                      <a16:colId xmlns:a16="http://schemas.microsoft.com/office/drawing/2014/main" val="2236552926"/>
                    </a:ext>
                  </a:extLst>
                </a:gridCol>
                <a:gridCol w="2166564">
                  <a:extLst>
                    <a:ext uri="{9D8B030D-6E8A-4147-A177-3AD203B41FA5}">
                      <a16:colId xmlns:a16="http://schemas.microsoft.com/office/drawing/2014/main" val="2644726863"/>
                    </a:ext>
                  </a:extLst>
                </a:gridCol>
                <a:gridCol w="2166564">
                  <a:extLst>
                    <a:ext uri="{9D8B030D-6E8A-4147-A177-3AD203B41FA5}">
                      <a16:colId xmlns:a16="http://schemas.microsoft.com/office/drawing/2014/main" val="2581463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 err="1"/>
                        <a:t>Attribute</a:t>
                      </a:r>
                      <a:endParaRPr lang="ru-K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05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passenger_id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28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first_name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212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last_name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99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CHAR(1)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893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date_of_birth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810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citizenship_country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438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residence_country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441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passport_number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UNIQUE,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6503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E9CC0F7-2E3A-8649-C620-E519B97D6438}"/>
              </a:ext>
            </a:extLst>
          </p:cNvPr>
          <p:cNvSpPr txBox="1"/>
          <p:nvPr/>
        </p:nvSpPr>
        <p:spPr>
          <a:xfrm>
            <a:off x="826851" y="389106"/>
            <a:ext cx="142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PASSENGER</a:t>
            </a:r>
          </a:p>
        </p:txBody>
      </p:sp>
    </p:spTree>
    <p:extLst>
      <p:ext uri="{BB962C8B-B14F-4D97-AF65-F5344CB8AC3E}">
        <p14:creationId xmlns:p14="http://schemas.microsoft.com/office/powerpoint/2010/main" val="2861333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350A98D-3E41-B480-8660-652E6B8B1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901150"/>
              </p:ext>
            </p:extLst>
          </p:nvPr>
        </p:nvGraphicFramePr>
        <p:xfrm>
          <a:off x="517189" y="363495"/>
          <a:ext cx="9103467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4489">
                  <a:extLst>
                    <a:ext uri="{9D8B030D-6E8A-4147-A177-3AD203B41FA5}">
                      <a16:colId xmlns:a16="http://schemas.microsoft.com/office/drawing/2014/main" val="1725682494"/>
                    </a:ext>
                  </a:extLst>
                </a:gridCol>
                <a:gridCol w="3034489">
                  <a:extLst>
                    <a:ext uri="{9D8B030D-6E8A-4147-A177-3AD203B41FA5}">
                      <a16:colId xmlns:a16="http://schemas.microsoft.com/office/drawing/2014/main" val="469588837"/>
                    </a:ext>
                  </a:extLst>
                </a:gridCol>
                <a:gridCol w="3034489">
                  <a:extLst>
                    <a:ext uri="{9D8B030D-6E8A-4147-A177-3AD203B41FA5}">
                      <a16:colId xmlns:a16="http://schemas.microsoft.com/office/drawing/2014/main" val="1666227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33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booking_id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78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flight_id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FLIGHT,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628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passenger_id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PASSENGER,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901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64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booking_platform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79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ticket_price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DECIMAL(10,2)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NOT NULL, CHECK ≥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245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BDA44F2-B488-E5D0-BA80-00CD8E6000A6}"/>
              </a:ext>
            </a:extLst>
          </p:cNvPr>
          <p:cNvSpPr txBox="1"/>
          <p:nvPr/>
        </p:nvSpPr>
        <p:spPr>
          <a:xfrm>
            <a:off x="517189" y="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BOOKING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2506F-B50F-4CA0-0C53-FEA74662AB3A}"/>
              </a:ext>
            </a:extLst>
          </p:cNvPr>
          <p:cNvSpPr txBox="1"/>
          <p:nvPr/>
        </p:nvSpPr>
        <p:spPr>
          <a:xfrm>
            <a:off x="517189" y="2917978"/>
            <a:ext cx="2164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BOOKING_HISTORY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9364A18-FFC7-1F6D-E5AB-1FBAB1BCA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311423"/>
              </p:ext>
            </p:extLst>
          </p:nvPr>
        </p:nvGraphicFramePr>
        <p:xfrm>
          <a:off x="517189" y="3429000"/>
          <a:ext cx="9103467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4489">
                  <a:extLst>
                    <a:ext uri="{9D8B030D-6E8A-4147-A177-3AD203B41FA5}">
                      <a16:colId xmlns:a16="http://schemas.microsoft.com/office/drawing/2014/main" val="3514316452"/>
                    </a:ext>
                  </a:extLst>
                </a:gridCol>
                <a:gridCol w="3034489">
                  <a:extLst>
                    <a:ext uri="{9D8B030D-6E8A-4147-A177-3AD203B41FA5}">
                      <a16:colId xmlns:a16="http://schemas.microsoft.com/office/drawing/2014/main" val="945434334"/>
                    </a:ext>
                  </a:extLst>
                </a:gridCol>
                <a:gridCol w="3034489">
                  <a:extLst>
                    <a:ext uri="{9D8B030D-6E8A-4147-A177-3AD203B41FA5}">
                      <a16:colId xmlns:a16="http://schemas.microsoft.com/office/drawing/2014/main" val="34707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08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history_id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170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booking_id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BOOKING,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08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old_flight_id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FLIGHT,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820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new_flight_id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FLIGHT,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15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old_status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604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new_status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594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changed_at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405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991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F176CD-D66B-FB73-E764-E6FF577700C7}"/>
              </a:ext>
            </a:extLst>
          </p:cNvPr>
          <p:cNvSpPr txBox="1"/>
          <p:nvPr/>
        </p:nvSpPr>
        <p:spPr>
          <a:xfrm>
            <a:off x="676025" y="141051"/>
            <a:ext cx="193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BOARDING_PASS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1BF84-B30A-339C-6F7D-CCC014757B29}"/>
              </a:ext>
            </a:extLst>
          </p:cNvPr>
          <p:cNvSpPr txBox="1"/>
          <p:nvPr/>
        </p:nvSpPr>
        <p:spPr>
          <a:xfrm>
            <a:off x="583660" y="10603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KZ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6C1AAEC-A55F-9630-25EB-A41CFE8C7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491833"/>
              </p:ext>
            </p:extLst>
          </p:nvPr>
        </p:nvGraphicFramePr>
        <p:xfrm>
          <a:off x="676026" y="510383"/>
          <a:ext cx="6726723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2241">
                  <a:extLst>
                    <a:ext uri="{9D8B030D-6E8A-4147-A177-3AD203B41FA5}">
                      <a16:colId xmlns:a16="http://schemas.microsoft.com/office/drawing/2014/main" val="2255134009"/>
                    </a:ext>
                  </a:extLst>
                </a:gridCol>
                <a:gridCol w="2242241">
                  <a:extLst>
                    <a:ext uri="{9D8B030D-6E8A-4147-A177-3AD203B41FA5}">
                      <a16:colId xmlns:a16="http://schemas.microsoft.com/office/drawing/2014/main" val="4067213078"/>
                    </a:ext>
                  </a:extLst>
                </a:gridCol>
                <a:gridCol w="2242241">
                  <a:extLst>
                    <a:ext uri="{9D8B030D-6E8A-4147-A177-3AD203B41FA5}">
                      <a16:colId xmlns:a16="http://schemas.microsoft.com/office/drawing/2014/main" val="3684376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 err="1"/>
                        <a:t>Attribute</a:t>
                      </a:r>
                      <a:endParaRPr lang="ru-K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15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boarding_pass_id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051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booking_id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BOOKING, UNIQUE,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475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seat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72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 err="1"/>
                        <a:t>boarding_time</a:t>
                      </a:r>
                      <a:endParaRPr lang="ru-K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1179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056F2D8-E873-CB34-5792-1E3F27E7B0E8}"/>
              </a:ext>
            </a:extLst>
          </p:cNvPr>
          <p:cNvSpPr txBox="1"/>
          <p:nvPr/>
        </p:nvSpPr>
        <p:spPr>
          <a:xfrm>
            <a:off x="676025" y="2613503"/>
            <a:ext cx="120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BAGGAGE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43EDA1D-1DE3-D5F3-4CC0-1D976C2E8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140671"/>
              </p:ext>
            </p:extLst>
          </p:nvPr>
        </p:nvGraphicFramePr>
        <p:xfrm>
          <a:off x="676025" y="2982835"/>
          <a:ext cx="6726723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2241">
                  <a:extLst>
                    <a:ext uri="{9D8B030D-6E8A-4147-A177-3AD203B41FA5}">
                      <a16:colId xmlns:a16="http://schemas.microsoft.com/office/drawing/2014/main" val="547486097"/>
                    </a:ext>
                  </a:extLst>
                </a:gridCol>
                <a:gridCol w="2242241">
                  <a:extLst>
                    <a:ext uri="{9D8B030D-6E8A-4147-A177-3AD203B41FA5}">
                      <a16:colId xmlns:a16="http://schemas.microsoft.com/office/drawing/2014/main" val="4079642275"/>
                    </a:ext>
                  </a:extLst>
                </a:gridCol>
                <a:gridCol w="2242241">
                  <a:extLst>
                    <a:ext uri="{9D8B030D-6E8A-4147-A177-3AD203B41FA5}">
                      <a16:colId xmlns:a16="http://schemas.microsoft.com/office/drawing/2014/main" val="2330871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271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baggage_id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956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booking_id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BOOKING,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29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weight_kg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DECIMAL(5,2)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NOT NULL, CHECK &gt;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922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64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10DC8B-73D9-8E4E-B4FF-95A903239973}"/>
              </a:ext>
            </a:extLst>
          </p:cNvPr>
          <p:cNvSpPr txBox="1"/>
          <p:nvPr/>
        </p:nvSpPr>
        <p:spPr>
          <a:xfrm>
            <a:off x="389107" y="107005"/>
            <a:ext cx="204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BAGGAGE_CHECK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149EE75-CA51-939D-1D1F-4877B2890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427149"/>
              </p:ext>
            </p:extLst>
          </p:nvPr>
        </p:nvGraphicFramePr>
        <p:xfrm>
          <a:off x="389107" y="476337"/>
          <a:ext cx="9348279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6093">
                  <a:extLst>
                    <a:ext uri="{9D8B030D-6E8A-4147-A177-3AD203B41FA5}">
                      <a16:colId xmlns:a16="http://schemas.microsoft.com/office/drawing/2014/main" val="3702654860"/>
                    </a:ext>
                  </a:extLst>
                </a:gridCol>
                <a:gridCol w="3116093">
                  <a:extLst>
                    <a:ext uri="{9D8B030D-6E8A-4147-A177-3AD203B41FA5}">
                      <a16:colId xmlns:a16="http://schemas.microsoft.com/office/drawing/2014/main" val="1595237496"/>
                    </a:ext>
                  </a:extLst>
                </a:gridCol>
                <a:gridCol w="3116093">
                  <a:extLst>
                    <a:ext uri="{9D8B030D-6E8A-4147-A177-3AD203B41FA5}">
                      <a16:colId xmlns:a16="http://schemas.microsoft.com/office/drawing/2014/main" val="3993012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73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baggage_check_id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9282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baggage_id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BAGGAGE,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36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booking_id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FK → BOOKING,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015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passenger_id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PASSENGER,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883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check_result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1849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401A167-1785-DA12-2392-E346321ED56E}"/>
              </a:ext>
            </a:extLst>
          </p:cNvPr>
          <p:cNvSpPr txBox="1"/>
          <p:nvPr/>
        </p:nvSpPr>
        <p:spPr>
          <a:xfrm>
            <a:off x="389107" y="2670897"/>
            <a:ext cx="203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SECURITY_CHECK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BBD222E-89B1-ECE5-6701-0EB587A64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983298"/>
              </p:ext>
            </p:extLst>
          </p:nvPr>
        </p:nvGraphicFramePr>
        <p:xfrm>
          <a:off x="389107" y="3040229"/>
          <a:ext cx="934827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6093">
                  <a:extLst>
                    <a:ext uri="{9D8B030D-6E8A-4147-A177-3AD203B41FA5}">
                      <a16:colId xmlns:a16="http://schemas.microsoft.com/office/drawing/2014/main" val="934125612"/>
                    </a:ext>
                  </a:extLst>
                </a:gridCol>
                <a:gridCol w="3116093">
                  <a:extLst>
                    <a:ext uri="{9D8B030D-6E8A-4147-A177-3AD203B41FA5}">
                      <a16:colId xmlns:a16="http://schemas.microsoft.com/office/drawing/2014/main" val="130356807"/>
                    </a:ext>
                  </a:extLst>
                </a:gridCol>
                <a:gridCol w="3116093">
                  <a:extLst>
                    <a:ext uri="{9D8B030D-6E8A-4147-A177-3AD203B41FA5}">
                      <a16:colId xmlns:a16="http://schemas.microsoft.com/office/drawing/2014/main" val="1051097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841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security_check_id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145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passenger_id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 → PASSENGER,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883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check_result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44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61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72EB9F-C8BC-5371-2F3B-670382877B64}"/>
              </a:ext>
            </a:extLst>
          </p:cNvPr>
          <p:cNvSpPr txBox="1"/>
          <p:nvPr/>
        </p:nvSpPr>
        <p:spPr>
          <a:xfrm>
            <a:off x="5205595" y="340468"/>
            <a:ext cx="178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3. </a:t>
            </a:r>
            <a:r>
              <a:rPr lang="ru-KZ" dirty="0" err="1"/>
              <a:t>Relationships</a:t>
            </a:r>
            <a:endParaRPr lang="ru-KZ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848366F-2403-89A5-74FA-FBA5C424A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066818"/>
              </p:ext>
            </p:extLst>
          </p:nvPr>
        </p:nvGraphicFramePr>
        <p:xfrm>
          <a:off x="2560338" y="933089"/>
          <a:ext cx="7071324" cy="49918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7831">
                  <a:extLst>
                    <a:ext uri="{9D8B030D-6E8A-4147-A177-3AD203B41FA5}">
                      <a16:colId xmlns:a16="http://schemas.microsoft.com/office/drawing/2014/main" val="2238132418"/>
                    </a:ext>
                  </a:extLst>
                </a:gridCol>
                <a:gridCol w="1767831">
                  <a:extLst>
                    <a:ext uri="{9D8B030D-6E8A-4147-A177-3AD203B41FA5}">
                      <a16:colId xmlns:a16="http://schemas.microsoft.com/office/drawing/2014/main" val="1685524199"/>
                    </a:ext>
                  </a:extLst>
                </a:gridCol>
                <a:gridCol w="1767831">
                  <a:extLst>
                    <a:ext uri="{9D8B030D-6E8A-4147-A177-3AD203B41FA5}">
                      <a16:colId xmlns:a16="http://schemas.microsoft.com/office/drawing/2014/main" val="1108310245"/>
                    </a:ext>
                  </a:extLst>
                </a:gridCol>
                <a:gridCol w="1767831">
                  <a:extLst>
                    <a:ext uri="{9D8B030D-6E8A-4147-A177-3AD203B41FA5}">
                      <a16:colId xmlns:a16="http://schemas.microsoft.com/office/drawing/2014/main" val="4034282077"/>
                    </a:ext>
                  </a:extLst>
                </a:gridCol>
              </a:tblGrid>
              <a:tr h="234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Parent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Child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Cardinality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Participation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823072475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AIRPORT (departure)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FLIGHT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Airport partial, flight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1288217910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AIRPORT (arrival)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FLIGHT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Airport partial, flight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488687550"/>
                  </a:ext>
                </a:extLst>
              </a:tr>
              <a:tr h="234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AIRLINE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FLIGHT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Airline partial, flight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1452597714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FLIGHT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Flight partial, booking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3819989146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PASSENGER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Passenger partial, booking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526782389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BOOKING_HISTORY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 partial, history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816553214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BOARDING_PASS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1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 partial, pass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349564906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BAGGAGE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 partial (baggage optional), baggage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1657668481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BAGGAGE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BAGGAGE_CHECK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Baggage partial, check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1722305306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BAGGAGE_CHECK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Booking partial, check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717227054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PASSENGER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BAGGAGE_CHECK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Passenger partial, check total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4048990987"/>
                  </a:ext>
                </a:extLst>
              </a:tr>
              <a:tr h="411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PASSENGER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SECURITY_CHECK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/>
                        <a:t>1 : N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000" dirty="0" err="1"/>
                        <a:t>Passenger</a:t>
                      </a:r>
                      <a:r>
                        <a:rPr lang="ru-KZ" sz="1000" dirty="0"/>
                        <a:t> </a:t>
                      </a:r>
                      <a:r>
                        <a:rPr lang="ru-KZ" sz="1000" dirty="0" err="1"/>
                        <a:t>partial</a:t>
                      </a:r>
                      <a:r>
                        <a:rPr lang="ru-KZ" sz="1000" dirty="0"/>
                        <a:t>, </a:t>
                      </a:r>
                      <a:r>
                        <a:rPr lang="ru-KZ" sz="1000" dirty="0" err="1"/>
                        <a:t>check</a:t>
                      </a:r>
                      <a:r>
                        <a:rPr lang="ru-KZ" sz="1000" dirty="0"/>
                        <a:t> </a:t>
                      </a:r>
                      <a:r>
                        <a:rPr lang="ru-KZ" sz="1000" dirty="0" err="1"/>
                        <a:t>total</a:t>
                      </a:r>
                      <a:endParaRPr lang="ru-KZ" sz="1000" dirty="0"/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170075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733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996B6F-10F8-071B-AA3F-AC1E2A548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697" y="0"/>
            <a:ext cx="40186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2184C8-D43E-C7C1-5D52-4E84CBE03D98}"/>
              </a:ext>
            </a:extLst>
          </p:cNvPr>
          <p:cNvSpPr txBox="1"/>
          <p:nvPr/>
        </p:nvSpPr>
        <p:spPr>
          <a:xfrm>
            <a:off x="476655" y="165370"/>
            <a:ext cx="1259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4. </a:t>
            </a:r>
            <a:r>
              <a:rPr lang="ru-KZ" dirty="0" err="1"/>
              <a:t>Diagram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826786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A4871F-8002-9A88-41C9-2D1F56A4632E}"/>
              </a:ext>
            </a:extLst>
          </p:cNvPr>
          <p:cNvSpPr txBox="1"/>
          <p:nvPr/>
        </p:nvSpPr>
        <p:spPr>
          <a:xfrm>
            <a:off x="622570" y="379379"/>
            <a:ext cx="114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/>
              <a:t>5. Legend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DA60AA8-4133-DF4A-ED3C-847960E8B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974774"/>
              </p:ext>
            </p:extLst>
          </p:nvPr>
        </p:nvGraphicFramePr>
        <p:xfrm>
          <a:off x="622570" y="962373"/>
          <a:ext cx="10515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698898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110063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61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680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356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UK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Unique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412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Exactly one (mandatory)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489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o|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Zero or 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254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o{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Zero or 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009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/>
                        <a:t>Solid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dirty="0" err="1"/>
                        <a:t>Identifying</a:t>
                      </a:r>
                      <a:r>
                        <a:rPr lang="ru-KZ" dirty="0"/>
                        <a:t> </a:t>
                      </a:r>
                      <a:r>
                        <a:rPr lang="ru-KZ" dirty="0" err="1"/>
                        <a:t>link</a:t>
                      </a:r>
                      <a:r>
                        <a:rPr lang="ru-KZ" dirty="0"/>
                        <a:t> </a:t>
                      </a:r>
                      <a:r>
                        <a:rPr lang="ru-KZ" dirty="0" err="1"/>
                        <a:t>via</a:t>
                      </a:r>
                      <a:r>
                        <a:rPr lang="ru-KZ" dirty="0"/>
                        <a:t> </a:t>
                      </a:r>
                      <a:r>
                        <a:rPr lang="ru-KZ" dirty="0" err="1"/>
                        <a:t>foreign</a:t>
                      </a:r>
                      <a:r>
                        <a:rPr lang="ru-KZ" dirty="0"/>
                        <a:t> </a:t>
                      </a:r>
                      <a:r>
                        <a:rPr lang="ru-KZ" dirty="0" err="1"/>
                        <a:t>key</a:t>
                      </a:r>
                      <a:r>
                        <a:rPr lang="ru-KZ" dirty="0"/>
                        <a:t> </a:t>
                      </a:r>
                      <a:r>
                        <a:rPr lang="ru-KZ" dirty="0" err="1"/>
                        <a:t>in</a:t>
                      </a:r>
                      <a:r>
                        <a:rPr lang="ru-KZ" dirty="0"/>
                        <a:t> </a:t>
                      </a:r>
                      <a:r>
                        <a:rPr lang="ru-KZ" dirty="0" err="1"/>
                        <a:t>the</a:t>
                      </a:r>
                      <a:r>
                        <a:rPr lang="ru-KZ" dirty="0"/>
                        <a:t> </a:t>
                      </a:r>
                      <a:r>
                        <a:rPr lang="ru-KZ" dirty="0" err="1"/>
                        <a:t>child</a:t>
                      </a:r>
                      <a:r>
                        <a:rPr lang="ru-KZ" dirty="0"/>
                        <a:t> </a:t>
                      </a:r>
                      <a:r>
                        <a:rPr lang="ru-KZ" dirty="0" err="1"/>
                        <a:t>entity</a:t>
                      </a:r>
                      <a:endParaRPr lang="ru-K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728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2768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751</Words>
  <Application>Microsoft Office PowerPoint</Application>
  <PresentationFormat>Широкоэкранный</PresentationFormat>
  <Paragraphs>281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Laboratory work 1</vt:lpstr>
      <vt:lpstr>1. Entities</vt:lpstr>
      <vt:lpstr>2. Attributes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yusup ablay</dc:creator>
  <cp:lastModifiedBy>yusup ablay</cp:lastModifiedBy>
  <cp:revision>1</cp:revision>
  <dcterms:created xsi:type="dcterms:W3CDTF">2026-09-21T11:59:48Z</dcterms:created>
  <dcterms:modified xsi:type="dcterms:W3CDTF">2026-09-22T15:04:32Z</dcterms:modified>
</cp:coreProperties>
</file>